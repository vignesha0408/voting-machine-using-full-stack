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768" r:id="rId1"/>
  </p:sldMasterIdLst>
  <p:notesMasterIdLst>
    <p:notesMasterId r:id="rId22"/>
  </p:notesMasterIdLst>
  <p:sldIdLst>
    <p:sldId id="273" r:id="rId2"/>
    <p:sldId id="277" r:id="rId3"/>
    <p:sldId id="310" r:id="rId4"/>
    <p:sldId id="274" r:id="rId5"/>
    <p:sldId id="302" r:id="rId6"/>
    <p:sldId id="303" r:id="rId7"/>
    <p:sldId id="304" r:id="rId8"/>
    <p:sldId id="281" r:id="rId9"/>
    <p:sldId id="289" r:id="rId10"/>
    <p:sldId id="282" r:id="rId11"/>
    <p:sldId id="280" r:id="rId12"/>
    <p:sldId id="275" r:id="rId13"/>
    <p:sldId id="300" r:id="rId14"/>
    <p:sldId id="305" r:id="rId15"/>
    <p:sldId id="306" r:id="rId16"/>
    <p:sldId id="307" r:id="rId17"/>
    <p:sldId id="311" r:id="rId18"/>
    <p:sldId id="308" r:id="rId19"/>
    <p:sldId id="309" r:id="rId20"/>
    <p:sldId id="25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36" autoAdjust="0"/>
    <p:restoredTop sz="77778" autoAdjust="0"/>
  </p:normalViewPr>
  <p:slideViewPr>
    <p:cSldViewPr snapToGrid="0">
      <p:cViewPr>
        <p:scale>
          <a:sx n="81" d="100"/>
          <a:sy n="81" d="100"/>
        </p:scale>
        <p:origin x="42" y="45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57E3C5-0F20-4039-B99C-AD7AB450C90D}" type="datetimeFigureOut">
              <a:rPr lang="en-IN" smtClean="0"/>
              <a:pPr/>
              <a:t>04-12-2025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29D675-F1B6-4FC6-80D5-E749EE90A86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610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29D675-F1B6-4FC6-80D5-E749EE90A86C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533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C47D7-0736-4668-8B7A-0D09271F49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430037-F9A8-4031-BEB2-F263EDD8FE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9BB46-4BE8-4DAB-9110-DD58CB831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50772-B7CF-4410-8DE6-BBDCA5289D52}" type="datetime1">
              <a:rPr lang="en-US" smtClean="0"/>
              <a:pPr/>
              <a:t>12/4/2025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84A419-74E4-42B8-ACE3-6E8DE8B85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ISE, SDM Institute of Technology, Ujire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5C8193-3796-4108-9E56-DC18EC491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4057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59C8E-AB37-4ABD-8FAD-E174D44F1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F48C0-CF7B-46F9-862E-D3705BE54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9E667-9787-4DA6-A98F-9438129EC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47B4C-47FA-4F0A-8457-E44C6562E2FA}" type="datetime1">
              <a:rPr lang="en-US" smtClean="0"/>
              <a:pPr/>
              <a:t>12/4/2025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73625-D892-463F-90DE-71D92FAA1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ISE, SDM Institute of Technology, Ujire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F3ACA-02C6-4B4B-99BF-BDBDDE1A0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658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DA241-1788-4CC4-A228-02BB3B6DF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D6E129-B11B-4C58-A023-AC1BC84E7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1EA47-407C-42F0-8741-3FE451008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26AD7-8793-46A5-B50F-C8BAAA8EAAAA}" type="datetime1">
              <a:rPr lang="en-US" smtClean="0"/>
              <a:pPr/>
              <a:t>12/4/2025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D0D1C-D5D8-4B4C-B10A-76BF96EBB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ISE, SDM Institute of Technology, Ujire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DC71F5-3A48-492C-A6D2-8C4DE9E73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9062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CEBDB-EBDA-447F-AB32-F62408215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740BA-7404-4CFB-A1F1-E2E58C6EA4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9F9F69-7911-4B53-BF11-2FB90602A7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C1C6A4-9F8B-45B0-A1B6-0D2527A8E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8D70C-AB24-48B2-97BD-967CFCBD8DE7}" type="datetime1">
              <a:rPr lang="en-US" smtClean="0"/>
              <a:pPr/>
              <a:t>12/4/2025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A474CD-B471-452A-AA37-180CA7DD0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ISE, SDM Institute of Technology, Ujire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A88DF9-3919-4E9A-94C1-1EA504B3C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681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71527-21C1-4445-A667-9AA01EF8D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D3BCEA-AD0C-4AA2-AE5C-471D3CE3B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65C86B-FF9F-4C5C-9A6F-8FC280018E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20AA1D-164F-4931-910D-79C56F9693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EA2172-9FA8-4244-B9B6-FE18DC8D75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B3B551-7925-46A9-9EFC-A35ED5A57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82D9C-DF48-45C4-B757-7B404B3A5B07}" type="datetime1">
              <a:rPr lang="en-US" smtClean="0"/>
              <a:pPr/>
              <a:t>12/4/2025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021CFD-9840-4B68-9CD4-5C0DB81AA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ISE, SDM Institute of Technology, Ujire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B1DAB3-BCB2-4E7E-BC83-C67AD9102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026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66F2C-C5F8-4B9F-AF69-457767FF2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E324AA-C8D6-4DED-8F8F-C5C405178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A884E-46D0-4D3F-A94B-A3B6C8887E04}" type="datetime1">
              <a:rPr lang="en-US" smtClean="0"/>
              <a:pPr/>
              <a:t>12/4/2025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418AE2-3476-47DF-9307-79E7E281C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ISE, SDM Institute of Technology, Ujire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660BE-9251-4B28-BC6D-688152FEB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4198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D69742-D293-4A92-9D6A-81A9215F1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F5C30-A440-4A32-A1AB-9093E67ED5D7}" type="datetime1">
              <a:rPr lang="en-US" smtClean="0"/>
              <a:pPr/>
              <a:t>12/4/2025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75DB97-C361-43B4-9EBF-034F29266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ISE, SDM Institute of Technology, Ujire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B2719B-73B1-4EAA-812E-BE1937778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415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462A9-772F-4FA9-9F0D-03FC616DD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F99F0-D286-4728-9946-8C8A6078E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5B1768-3719-4038-BBC0-BF49F54333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97E2D5-4A60-4B41-9EB1-B9A99AF99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17B25-26AC-4D1D-8956-A864FECF1F24}" type="datetime1">
              <a:rPr lang="en-US" smtClean="0"/>
              <a:pPr/>
              <a:t>12/4/2025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5614A2-C4FA-4445-9505-40D21DC7E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ISE, SDM Institute of Technology, Ujire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D23E75-7AB6-44D1-ACED-2D99F66B8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100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606C3-4FF3-4E54-BA9B-AB5B48166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609778-6425-4A27-BC93-73C9104D60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4FBCC2-2799-4AF0-BC82-1512AD25BE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985AC5-0895-4143-8D58-E84A23251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C69CA-3FC0-4C6D-9E5D-67B3C16BA466}" type="datetime1">
              <a:rPr lang="en-US" smtClean="0"/>
              <a:pPr/>
              <a:t>12/4/2025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F2DA00-A839-4C69-9DC9-87D08E9C9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ISE, SDM Institute of Technology, Ujire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C708A6-D651-42E7-A078-A96888BB5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234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78C54-647E-4DAE-9868-301095908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3C8874-718F-4648-A726-4B1833EAFD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40F7E-4A4E-4A49-A298-339FB121D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719CC-8BB8-4766-9DC1-F7B8079C4EAA}" type="datetime1">
              <a:rPr lang="en-US" smtClean="0"/>
              <a:pPr/>
              <a:t>12/4/2025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A1BEE6-AA62-46D6-9DA4-C6F52B7BB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ISE, SDM Institute of Technology, Ujire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37460-35D0-4391-8543-55E562AAE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078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B73D52-3AD4-4AD5-A896-BEC44A631F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208DE3-70BD-421D-BAEB-B415792284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EBC3A-B845-4714-B8BF-50838F9D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D206B-9217-45FD-81CB-58ED94764860}" type="datetime1">
              <a:rPr lang="en-US" smtClean="0"/>
              <a:pPr/>
              <a:t>12/4/2025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167D99-A9F2-4FB4-A675-DAFED6373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ISE, SDM Institute of Technology, Ujire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BB700-09DD-484C-8A98-85D26E97B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976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89C6F7-717C-4131-B357-245B3451A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7D9697-D15C-4D55-946D-9F45351AB7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15CBE9-8CA6-49E2-B16A-963E7718FC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99CB4-D49E-46F3-A64B-E74E8E7A5AF3}" type="datetime1">
              <a:rPr lang="en-US" smtClean="0"/>
              <a:pPr/>
              <a:t>12/4/2025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4D91D-BAB0-4200-BD64-63F79D551C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Dept. of ISE, SDM Institute of Technology, Ujire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FB7FE-88B2-4D0B-96C9-6E3D90BB86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279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AEB02-47D5-4BF2-B5CE-B23D2EA98A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59162"/>
            <a:ext cx="12192000" cy="180007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pPr>
              <a:lnSpc>
                <a:spcPts val="5600"/>
              </a:lnSpc>
            </a:pPr>
            <a:r>
              <a:rPr lang="en-IN" sz="4400" dirty="0"/>
              <a:t>A Secure Full Stack Voting System for Transparent, Reliable, and Scalable Digital Elections.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376027-046A-47E7-93B6-37FB9DF344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86352" y="4454876"/>
            <a:ext cx="4124575" cy="1800077"/>
          </a:xfrm>
        </p:spPr>
        <p:txBody>
          <a:bodyPr>
            <a:noAutofit/>
          </a:bodyPr>
          <a:lstStyle/>
          <a:p>
            <a:pPr algn="l"/>
            <a:r>
              <a:rPr lang="en-US" sz="2000" dirty="0"/>
              <a:t>Presented By</a:t>
            </a:r>
          </a:p>
          <a:p>
            <a:pPr algn="l"/>
            <a:r>
              <a:rPr lang="en-IN" sz="2000" dirty="0"/>
              <a:t>Deepak V S (4SU23IS010)</a:t>
            </a:r>
          </a:p>
          <a:p>
            <a:pPr algn="l"/>
            <a:r>
              <a:rPr lang="en-IN" sz="2000" dirty="0"/>
              <a:t>Prem T J (4SU23IS032)</a:t>
            </a:r>
          </a:p>
          <a:p>
            <a:pPr algn="l"/>
            <a:r>
              <a:rPr lang="en-IN" sz="2000" dirty="0"/>
              <a:t>Vignesha U G (4SU23IS060)</a:t>
            </a:r>
          </a:p>
          <a:p>
            <a:pPr algn="l"/>
            <a:r>
              <a:rPr lang="en-IN" sz="2000" dirty="0"/>
              <a:t>Vivek (4SU23IS061)</a:t>
            </a:r>
          </a:p>
          <a:p>
            <a:pPr algn="l"/>
            <a:endParaRPr lang="en-IN" sz="1600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7C19EC5-1777-46E3-9823-16F1FFBA2167}"/>
              </a:ext>
            </a:extLst>
          </p:cNvPr>
          <p:cNvSpPr txBox="1">
            <a:spLocks/>
          </p:cNvSpPr>
          <p:nvPr/>
        </p:nvSpPr>
        <p:spPr>
          <a:xfrm>
            <a:off x="1309673" y="4166304"/>
            <a:ext cx="36068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72042A7-FAA2-4FC3-A442-885D3393CE6E}"/>
              </a:ext>
            </a:extLst>
          </p:cNvPr>
          <p:cNvSpPr txBox="1">
            <a:spLocks/>
          </p:cNvSpPr>
          <p:nvPr/>
        </p:nvSpPr>
        <p:spPr>
          <a:xfrm>
            <a:off x="1081073" y="4454876"/>
            <a:ext cx="4064000" cy="1610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u="sng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r>
              <a:rPr lang="en-IN" sz="2000" dirty="0"/>
              <a:t>Mrs. Leema Rachel Mathew (Assistant Professor)</a:t>
            </a:r>
          </a:p>
          <a:p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534849-2760-49B1-B8E3-693C0DE33A40}"/>
              </a:ext>
            </a:extLst>
          </p:cNvPr>
          <p:cNvSpPr/>
          <p:nvPr/>
        </p:nvSpPr>
        <p:spPr>
          <a:xfrm>
            <a:off x="1863525" y="513105"/>
            <a:ext cx="8773610" cy="126188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chemeClr val="accent1">
                    <a:lumMod val="50000"/>
                  </a:schemeClr>
                </a:solidFill>
              </a:rPr>
              <a:t>SDM Institute of Technology, Ujire</a:t>
            </a:r>
            <a:br>
              <a:rPr lang="en-IN" sz="2400" b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</a:rPr>
              <a:t>Department of Information Science and Engineering</a:t>
            </a:r>
          </a:p>
          <a:p>
            <a:pPr algn="ctr"/>
            <a:r>
              <a:rPr lang="en-IN" sz="2400" dirty="0">
                <a:solidFill>
                  <a:schemeClr val="accent1">
                    <a:lumMod val="50000"/>
                  </a:schemeClr>
                </a:solidFill>
              </a:rPr>
              <a:t>First Review of Project Phase-1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29A130-FECD-43F7-995B-035B1436A67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73696" y="473356"/>
            <a:ext cx="1446478" cy="13901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47BFD45-45AE-4D6C-A242-7FFE86576D84}"/>
              </a:ext>
            </a:extLst>
          </p:cNvPr>
          <p:cNvSpPr/>
          <p:nvPr/>
        </p:nvSpPr>
        <p:spPr>
          <a:xfrm>
            <a:off x="4916473" y="1757037"/>
            <a:ext cx="23718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Presentation on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44254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D117B9-4FAE-45DF-A5E8-F1F1865A5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34ED2F-AC4C-4255-A9C2-A8A1F7A0A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7833"/>
            <a:ext cx="10515600" cy="4351338"/>
          </a:xfrm>
        </p:spPr>
        <p:txBody>
          <a:bodyPr>
            <a:noAutofit/>
          </a:bodyPr>
          <a:lstStyle/>
          <a:p>
            <a:pPr marL="890588" indent="-531813">
              <a:lnSpc>
                <a:spcPct val="100000"/>
              </a:lnSpc>
              <a:spcBef>
                <a:spcPts val="600"/>
              </a:spcBef>
            </a:pPr>
            <a:r>
              <a:rPr lang="en-IN" dirty="0"/>
              <a:t>Introduction</a:t>
            </a:r>
          </a:p>
          <a:p>
            <a:pPr marL="890588" indent="-531813">
              <a:lnSpc>
                <a:spcPct val="100000"/>
              </a:lnSpc>
              <a:spcBef>
                <a:spcPts val="600"/>
              </a:spcBef>
            </a:pPr>
            <a:r>
              <a:rPr lang="en-IN" dirty="0"/>
              <a:t>Literature Survey</a:t>
            </a:r>
          </a:p>
          <a:p>
            <a:pPr marL="890588" indent="-531813">
              <a:lnSpc>
                <a:spcPct val="100000"/>
              </a:lnSpc>
              <a:spcBef>
                <a:spcPts val="600"/>
              </a:spcBef>
            </a:pPr>
            <a:r>
              <a:rPr lang="en-IN" dirty="0"/>
              <a:t>Problem Statement</a:t>
            </a:r>
          </a:p>
          <a:p>
            <a:pPr marL="890588" indent="-531813">
              <a:lnSpc>
                <a:spcPct val="100000"/>
              </a:lnSpc>
              <a:spcBef>
                <a:spcPts val="600"/>
              </a:spcBef>
            </a:pPr>
            <a:r>
              <a:rPr lang="en-IN" dirty="0"/>
              <a:t>System Requirements</a:t>
            </a:r>
          </a:p>
          <a:p>
            <a:pPr marL="890588" indent="-531813">
              <a:lnSpc>
                <a:spcPct val="100000"/>
              </a:lnSpc>
              <a:spcBef>
                <a:spcPts val="600"/>
              </a:spcBef>
            </a:pPr>
            <a:r>
              <a:rPr lang="en-IN" dirty="0"/>
              <a:t>Objectives</a:t>
            </a:r>
          </a:p>
          <a:p>
            <a:pPr marL="890588" indent="-531813">
              <a:lnSpc>
                <a:spcPct val="100000"/>
              </a:lnSpc>
              <a:spcBef>
                <a:spcPts val="600"/>
              </a:spcBef>
            </a:pPr>
            <a:r>
              <a:rPr lang="en-IN" dirty="0"/>
              <a:t>Methodology</a:t>
            </a:r>
          </a:p>
          <a:p>
            <a:pPr marL="890588" indent="-531813">
              <a:lnSpc>
                <a:spcPct val="100000"/>
              </a:lnSpc>
              <a:spcBef>
                <a:spcPts val="600"/>
              </a:spcBef>
            </a:pPr>
            <a:r>
              <a:rPr lang="en-IN" dirty="0"/>
              <a:t>Outcomes</a:t>
            </a:r>
          </a:p>
          <a:p>
            <a:pPr marL="890588" indent="-531813">
              <a:lnSpc>
                <a:spcPct val="100000"/>
              </a:lnSpc>
              <a:spcBef>
                <a:spcPts val="600"/>
              </a:spcBef>
            </a:pPr>
            <a:r>
              <a:rPr lang="en-IN" dirty="0"/>
              <a:t>References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DCB1B2-4B11-4FBE-BE10-63822E527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ISE, SDM Institute of Technology, Ujire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F6258C-64CC-45C3-9F1B-598857073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975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303EB-E8E6-4837-CE0A-5B0D4FD7E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7DCBB9F-7CA4-D4F0-EFB9-10ECC5CB7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Abstract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856885-FAA5-9E05-00AA-0C07CBFE7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1380" y="1840598"/>
            <a:ext cx="9781131" cy="3285941"/>
          </a:xfrm>
        </p:spPr>
        <p:txBody>
          <a:bodyPr>
            <a:noAutofit/>
          </a:bodyPr>
          <a:lstStyle/>
          <a:p>
            <a:pPr marL="358775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dirty="0"/>
              <a:t> This project presents a </a:t>
            </a:r>
            <a:r>
              <a:rPr lang="en-US" b="1" i="1" dirty="0"/>
              <a:t>Secure Full Stack Voting System </a:t>
            </a:r>
            <a:r>
              <a:rPr lang="en-US" dirty="0"/>
              <a:t>designed to make digital elections more transparent, reliable, and scalable. The system combines a user-friendly front end, a secure backend, and a robust database to ensure smooth voting operations. Strong authentication, encrypted data transfer, and tamper-proof vote storage protect the integrity of each vote.</a:t>
            </a:r>
            <a:endParaRPr lang="en-IN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D3CCABF-E815-B434-430F-E42756AF0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ISE, SDM Institute of Technology, Ujire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AE9AD2-BE84-C32A-D2FE-CE2B30E16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757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D117B9-4FAE-45DF-A5E8-F1F1865A5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Introduction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34ED2F-AC4C-4255-A9C2-A8A1F7A0A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1524"/>
            <a:ext cx="10515600" cy="4667250"/>
          </a:xfrm>
        </p:spPr>
        <p:txBody>
          <a:bodyPr>
            <a:noAutofit/>
          </a:bodyPr>
          <a:lstStyle/>
          <a:p>
            <a:pPr marL="890588" indent="-531813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600" dirty="0"/>
              <a:t>This system provides a secure and reliable platform for online elections, ensuring transparency by allowing voters to track their votes and providing a clear audit trail.</a:t>
            </a:r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600" dirty="0"/>
              <a:t>It is accessible to all voters, regardless of their technical skills or location, streamlining the voting process and reducing the time and effort required for conducting elections.</a:t>
            </a:r>
          </a:p>
          <a:p>
            <a:pPr marL="358775" indent="0">
              <a:lnSpc>
                <a:spcPct val="150000"/>
              </a:lnSpc>
              <a:buNone/>
            </a:pPr>
            <a:endParaRPr lang="en-US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IN" sz="160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B4D0F7-8298-4213-B41C-B3CC017AD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ISE, SDM Institute of Technology, Ujire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1F4874-96D4-4AF7-BE82-720B0307A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808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BD6E7-BA21-59C4-5CAB-E6772B723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Literature Survey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0D395F4-2C4D-65CB-D564-410FB77E5E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1589582"/>
              </p:ext>
            </p:extLst>
          </p:nvPr>
        </p:nvGraphicFramePr>
        <p:xfrm>
          <a:off x="690880" y="1361739"/>
          <a:ext cx="10662920" cy="48041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9353">
                  <a:extLst>
                    <a:ext uri="{9D8B030D-6E8A-4147-A177-3AD203B41FA5}">
                      <a16:colId xmlns:a16="http://schemas.microsoft.com/office/drawing/2014/main" val="104094901"/>
                    </a:ext>
                  </a:extLst>
                </a:gridCol>
                <a:gridCol w="1658471">
                  <a:extLst>
                    <a:ext uri="{9D8B030D-6E8A-4147-A177-3AD203B41FA5}">
                      <a16:colId xmlns:a16="http://schemas.microsoft.com/office/drawing/2014/main" val="761544831"/>
                    </a:ext>
                  </a:extLst>
                </a:gridCol>
                <a:gridCol w="5665096">
                  <a:extLst>
                    <a:ext uri="{9D8B030D-6E8A-4147-A177-3AD203B41FA5}">
                      <a16:colId xmlns:a16="http://schemas.microsoft.com/office/drawing/2014/main" val="2636553848"/>
                    </a:ext>
                  </a:extLst>
                </a:gridCol>
              </a:tblGrid>
              <a:tr h="770556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IN" sz="2000" b="0" dirty="0">
                          <a:effectLst/>
                        </a:rPr>
                        <a:t>Author(s) / Source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r>
                        <a:rPr lang="en-IN" sz="20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Published year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Brief Content Summary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6020777"/>
                  </a:ext>
                </a:extLst>
              </a:tr>
              <a:tr h="1381870">
                <a:tc>
                  <a:txBody>
                    <a:bodyPr/>
                    <a:lstStyle/>
                    <a:p>
                      <a:r>
                        <a:rPr lang="en-US" sz="1800" dirty="0"/>
                        <a:t>Helios: Web-based Open-Audit Voting (</a:t>
                      </a:r>
                      <a:r>
                        <a:rPr lang="en-US" dirty="0"/>
                        <a:t>Ben Adida</a:t>
                      </a:r>
                      <a:r>
                        <a:rPr lang="en-US" sz="1800" dirty="0"/>
                        <a:t>)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2008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Helios is one of the first web-based e-voting systems that allow voters to verify their </a:t>
                      </a:r>
                      <a:r>
                        <a:rPr lang="en-US" sz="1800" b="1" dirty="0"/>
                        <a:t>vote without revealing their identity</a:t>
                      </a:r>
                      <a:r>
                        <a:rPr lang="en-US" sz="1800" dirty="0"/>
                        <a:t>. It uses cryptographic proofs to ensure that votes are encrypted, counted correctly, and remain private.</a:t>
                      </a:r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57733"/>
                  </a:ext>
                </a:extLst>
              </a:tr>
              <a:tr h="1334849">
                <a:tc>
                  <a:txBody>
                    <a:bodyPr/>
                    <a:lstStyle/>
                    <a:p>
                      <a:r>
                        <a:rPr lang="en-US" dirty="0"/>
                        <a:t>Blockchain-Based Secure E-Voting System </a:t>
                      </a:r>
                      <a:r>
                        <a:rPr lang="en-US" sz="2000" dirty="0"/>
                        <a:t>(Alaa </a:t>
                      </a:r>
                      <a:r>
                        <a:rPr lang="en-US" sz="2000" dirty="0" err="1"/>
                        <a:t>K.Ayed</a:t>
                      </a:r>
                      <a:r>
                        <a:rPr lang="en-US" sz="2000" dirty="0"/>
                        <a:t>)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This model eliminates the need for a central authority by recording each vote on a blockchain network. Smart contracts automatically handle vote submission and counting, ensuring </a:t>
                      </a:r>
                      <a:r>
                        <a:rPr lang="en-US" b="1" dirty="0"/>
                        <a:t>immutability</a:t>
                      </a:r>
                      <a:r>
                        <a:rPr lang="en-US" dirty="0"/>
                        <a:t> and </a:t>
                      </a:r>
                      <a:r>
                        <a:rPr lang="en-US" b="1" dirty="0"/>
                        <a:t>transparency</a:t>
                      </a:r>
                      <a:r>
                        <a:rPr lang="en-US" dirty="0"/>
                        <a:t> in the election process.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615164"/>
                  </a:ext>
                </a:extLst>
              </a:tr>
              <a:tr h="1165672">
                <a:tc>
                  <a:txBody>
                    <a:bodyPr/>
                    <a:lstStyle/>
                    <a:p>
                      <a:r>
                        <a:rPr lang="en-US" dirty="0"/>
                        <a:t>Design of a Secure Online Voting System Using Biometric Authentication(N. Kumar, S. Dutta)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/>
                        <a:t>Integrates </a:t>
                      </a:r>
                      <a:r>
                        <a:rPr lang="en-US" b="1" dirty="0"/>
                        <a:t>fingerprint verification </a:t>
                      </a:r>
                      <a:r>
                        <a:rPr lang="en-US" dirty="0"/>
                        <a:t>to validate voter identity. Prevents impersonation and multiple voting using biometric data stored securely in databases.(Optional)</a:t>
                      </a:r>
                      <a:endParaRPr lang="en-US" sz="2000" dirty="0">
                        <a:effectLst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2841056414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8D028F-B7CB-E0C5-5068-2D207B8AC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ISE, SDM Institute of Technology, Ujire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D0F7EE-4933-D3BC-565F-086BC6556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5725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9BF70-EBCB-6BF5-E9C1-EA786B22A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915E5-52EA-F5A8-DBD3-3C3B378C9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Literature Survey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EDD3E74-B330-1E20-1FEE-0C434C11CF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6991392"/>
              </p:ext>
            </p:extLst>
          </p:nvPr>
        </p:nvGraphicFramePr>
        <p:xfrm>
          <a:off x="690880" y="1361739"/>
          <a:ext cx="10662920" cy="48328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9353">
                  <a:extLst>
                    <a:ext uri="{9D8B030D-6E8A-4147-A177-3AD203B41FA5}">
                      <a16:colId xmlns:a16="http://schemas.microsoft.com/office/drawing/2014/main" val="104094901"/>
                    </a:ext>
                  </a:extLst>
                </a:gridCol>
                <a:gridCol w="1658471">
                  <a:extLst>
                    <a:ext uri="{9D8B030D-6E8A-4147-A177-3AD203B41FA5}">
                      <a16:colId xmlns:a16="http://schemas.microsoft.com/office/drawing/2014/main" val="761544831"/>
                    </a:ext>
                  </a:extLst>
                </a:gridCol>
                <a:gridCol w="5665096">
                  <a:extLst>
                    <a:ext uri="{9D8B030D-6E8A-4147-A177-3AD203B41FA5}">
                      <a16:colId xmlns:a16="http://schemas.microsoft.com/office/drawing/2014/main" val="2636553848"/>
                    </a:ext>
                  </a:extLst>
                </a:gridCol>
              </a:tblGrid>
              <a:tr h="845211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IN" sz="2000" b="0" dirty="0">
                          <a:effectLst/>
                        </a:rPr>
                        <a:t>Author(s) / Source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r>
                        <a:rPr lang="en-IN" sz="20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Published year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Brief Content Summary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6020777"/>
                  </a:ext>
                </a:extLst>
              </a:tr>
              <a:tr h="1463019">
                <a:tc>
                  <a:txBody>
                    <a:bodyPr/>
                    <a:lstStyle/>
                    <a:p>
                      <a:r>
                        <a:rPr lang="en-US" sz="1800" dirty="0"/>
                        <a:t>A Blockchain-Based E-Voting System Using Smart Contracts</a:t>
                      </a:r>
                    </a:p>
                    <a:p>
                      <a:r>
                        <a:rPr lang="en-US" sz="1800" dirty="0"/>
                        <a:t>(</a:t>
                      </a:r>
                      <a:r>
                        <a:rPr lang="sv-SE" sz="1800" dirty="0"/>
                        <a:t>A. Shuaib, S. Musa, M. Idris</a:t>
                      </a:r>
                      <a:r>
                        <a:rPr lang="en-US" sz="1800" dirty="0"/>
                        <a:t>)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Implements a blockchain voting model on Ethereum using Solidity. Votes are stored as immutable transactions, achieving </a:t>
                      </a:r>
                      <a:r>
                        <a:rPr lang="en-US" b="1" dirty="0"/>
                        <a:t>tamper-proof storage </a:t>
                      </a:r>
                      <a:r>
                        <a:rPr lang="en-US" dirty="0"/>
                        <a:t>and </a:t>
                      </a:r>
                      <a:r>
                        <a:rPr lang="en-US" b="1" dirty="0"/>
                        <a:t>transparent vote counting.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57733"/>
                  </a:ext>
                </a:extLst>
              </a:tr>
              <a:tr h="1322142">
                <a:tc>
                  <a:txBody>
                    <a:bodyPr/>
                    <a:lstStyle/>
                    <a:p>
                      <a:r>
                        <a:rPr lang="en-US" dirty="0"/>
                        <a:t>Secure E-Voting System Using OTP Authentication(</a:t>
                      </a:r>
                      <a:r>
                        <a:rPr lang="fi-FI" dirty="0"/>
                        <a:t>A. Hussain, F. Rahman, M. Khan</a:t>
                      </a:r>
                      <a:r>
                        <a:rPr lang="en-US" dirty="0"/>
                        <a:t>)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Uses OTP-based two-factor authentication for secure voter verification. Ensures </a:t>
                      </a:r>
                      <a:r>
                        <a:rPr lang="en-US" b="1" dirty="0"/>
                        <a:t>one-vote-per-user policy </a:t>
                      </a:r>
                      <a:r>
                        <a:rPr lang="en-US" dirty="0"/>
                        <a:t>and enhances backend security through dynamic OTP generation.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615164"/>
                  </a:ext>
                </a:extLst>
              </a:tr>
              <a:tr h="1202501">
                <a:tc>
                  <a:txBody>
                    <a:bodyPr/>
                    <a:lstStyle/>
                    <a:p>
                      <a:r>
                        <a:rPr lang="en-US" sz="1800" dirty="0"/>
                        <a:t>Cloud-Based E-Voting Systems</a:t>
                      </a:r>
                    </a:p>
                    <a:p>
                      <a:r>
                        <a:rPr lang="en-US" sz="1800" dirty="0"/>
                        <a:t>(L. Chen, H. Zhang)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b="0" dirty="0"/>
                        <a:t>Proposes deploying voting systems on cloud servers for better </a:t>
                      </a:r>
                      <a:r>
                        <a:rPr lang="en-US" b="1" dirty="0"/>
                        <a:t>scalability</a:t>
                      </a:r>
                      <a:r>
                        <a:rPr lang="en-US" b="0" dirty="0"/>
                        <a:t> and </a:t>
                      </a:r>
                      <a:r>
                        <a:rPr lang="en-US" b="1" dirty="0"/>
                        <a:t>reliability</a:t>
                      </a:r>
                      <a:r>
                        <a:rPr lang="en-US" b="0" dirty="0"/>
                        <a:t>. Enhances performance and storage security with cloud infrastructure.</a:t>
                      </a:r>
                      <a:endParaRPr lang="en-US" sz="2000" b="0" dirty="0">
                        <a:effectLst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2841056414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9C95CE-6153-7E9D-6A0B-635791E63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ISE, SDM Institute of Technology, Ujire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573C8E-5384-74F3-5B7E-DEA1A9825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0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00064-C0F5-62C6-E5E2-3860C4700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ED710-FFD4-2206-6091-5C8848A57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Literature Survey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E581ACA-4EAC-9C04-2E81-EBF1405878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5014087"/>
              </p:ext>
            </p:extLst>
          </p:nvPr>
        </p:nvGraphicFramePr>
        <p:xfrm>
          <a:off x="690880" y="1371600"/>
          <a:ext cx="10662920" cy="47835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6464">
                  <a:extLst>
                    <a:ext uri="{9D8B030D-6E8A-4147-A177-3AD203B41FA5}">
                      <a16:colId xmlns:a16="http://schemas.microsoft.com/office/drawing/2014/main" val="104094901"/>
                    </a:ext>
                  </a:extLst>
                </a:gridCol>
                <a:gridCol w="1641360">
                  <a:extLst>
                    <a:ext uri="{9D8B030D-6E8A-4147-A177-3AD203B41FA5}">
                      <a16:colId xmlns:a16="http://schemas.microsoft.com/office/drawing/2014/main" val="761544831"/>
                    </a:ext>
                  </a:extLst>
                </a:gridCol>
                <a:gridCol w="5665096">
                  <a:extLst>
                    <a:ext uri="{9D8B030D-6E8A-4147-A177-3AD203B41FA5}">
                      <a16:colId xmlns:a16="http://schemas.microsoft.com/office/drawing/2014/main" val="2636553848"/>
                    </a:ext>
                  </a:extLst>
                </a:gridCol>
              </a:tblGrid>
              <a:tr h="827075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IN" sz="2000" b="0" dirty="0">
                          <a:effectLst/>
                        </a:rPr>
                        <a:t>Author(s) / Source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r>
                        <a:rPr lang="en-IN" sz="20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Published year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Brief Content Summary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6020777"/>
                  </a:ext>
                </a:extLst>
              </a:tr>
              <a:tr h="1449961">
                <a:tc>
                  <a:txBody>
                    <a:bodyPr/>
                    <a:lstStyle/>
                    <a:p>
                      <a:r>
                        <a:rPr lang="en-US" sz="1800" dirty="0"/>
                        <a:t>Usability Challenges in Electronic Voting Systems</a:t>
                      </a:r>
                    </a:p>
                    <a:p>
                      <a:r>
                        <a:rPr lang="en-US" sz="1800" dirty="0"/>
                        <a:t>(</a:t>
                      </a:r>
                      <a:r>
                        <a:rPr lang="de-DE" sz="1800" dirty="0"/>
                        <a:t>Robert Krimmer, Melanie Volkamer, Melanie Brucker</a:t>
                      </a:r>
                      <a:r>
                        <a:rPr lang="en-US" sz="1800" dirty="0"/>
                        <a:t>)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Analyzes the importance of usability and interface design in electronic voting. Discusses how </a:t>
                      </a:r>
                      <a:r>
                        <a:rPr lang="en-US" b="1" dirty="0"/>
                        <a:t>UI/UX </a:t>
                      </a:r>
                      <a:r>
                        <a:rPr lang="en-US" dirty="0"/>
                        <a:t>impacts voter confidence, trust, and accessibility.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57733"/>
                  </a:ext>
                </a:extLst>
              </a:tr>
              <a:tr h="1317811">
                <a:tc>
                  <a:txBody>
                    <a:bodyPr/>
                    <a:lstStyle/>
                    <a:p>
                      <a:r>
                        <a:rPr lang="en-US" sz="1800" dirty="0" err="1"/>
                        <a:t>ElectAnon</a:t>
                      </a:r>
                      <a:r>
                        <a:rPr lang="en-US" sz="1800" dirty="0"/>
                        <a:t>: Anonymous Blockchain Voting Protocol</a:t>
                      </a:r>
                    </a:p>
                    <a:p>
                      <a:r>
                        <a:rPr lang="en-US" sz="1800" dirty="0"/>
                        <a:t>(H. Onur, A. Yurdakul)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Introduces a ranked-choice voting protocol on blockchain ensuring </a:t>
                      </a:r>
                      <a:r>
                        <a:rPr lang="en-US" b="1" dirty="0"/>
                        <a:t>privacy</a:t>
                      </a:r>
                      <a:r>
                        <a:rPr lang="en-US" dirty="0"/>
                        <a:t> and </a:t>
                      </a:r>
                      <a:r>
                        <a:rPr lang="en-US" b="1" dirty="0"/>
                        <a:t>scalability</a:t>
                      </a:r>
                      <a:r>
                        <a:rPr lang="en-US" dirty="0"/>
                        <a:t>. Highlights use of cryptography for voter anonymity.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615164"/>
                  </a:ext>
                </a:extLst>
              </a:tr>
              <a:tr h="1160524">
                <a:tc>
                  <a:txBody>
                    <a:bodyPr/>
                    <a:lstStyle/>
                    <a:p>
                      <a:r>
                        <a:rPr lang="en-US" dirty="0"/>
                        <a:t>End-to-End Verifiable Internet Voting(Ronald L. Rivest, John Wack)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2006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/>
                        <a:t>Introduces the concept of </a:t>
                      </a:r>
                      <a:r>
                        <a:rPr lang="en-US" b="1" i="0" dirty="0"/>
                        <a:t>end-to-end verifiability</a:t>
                      </a:r>
                      <a:r>
                        <a:rPr lang="en-US" dirty="0"/>
                        <a:t>, ensuring every voter can confirm that their encrypted vote was correctly included in the final tally without revealing who they voted for.</a:t>
                      </a:r>
                      <a:endParaRPr lang="en-US" sz="2000" dirty="0">
                        <a:effectLst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2841056414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0E1D3D-CB04-838D-CA29-8E5B7CBA7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ISE, SDM Institute of Technology, Ujire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E62D23-E6FF-4DCC-4BD1-9DE4500EB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789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D117B9-4FAE-45DF-A5E8-F1F1865A5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Problem Statement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34ED2F-AC4C-4255-A9C2-A8A1F7A0A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765" y="1774723"/>
            <a:ext cx="10515600" cy="4057090"/>
          </a:xfrm>
        </p:spPr>
        <p:txBody>
          <a:bodyPr>
            <a:normAutofit/>
          </a:bodyPr>
          <a:lstStyle/>
          <a:p>
            <a:pPr marL="268288" indent="-88900">
              <a:lnSpc>
                <a:spcPct val="150000"/>
              </a:lnSpc>
            </a:pPr>
            <a:endParaRPr lang="en-US" sz="100" dirty="0"/>
          </a:p>
          <a:p>
            <a:pPr marL="268288" indent="-88900">
              <a:lnSpc>
                <a:spcPct val="150000"/>
              </a:lnSpc>
            </a:pPr>
            <a:r>
              <a:rPr lang="en-US" sz="100" dirty="0"/>
              <a:t> </a:t>
            </a:r>
          </a:p>
          <a:p>
            <a:pPr marL="806450" indent="-538163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Voter fraud and tampering undermine trust in the electoral process.</a:t>
            </a:r>
          </a:p>
          <a:p>
            <a:pPr marL="806450" indent="-538163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Limited accessibility, especially for disabled or remote voters,       creates inequality and excludes portions of the population. Digital divides and complex user interfaces alienate some voters.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/>
          </a:p>
          <a:p>
            <a:pPr marL="358775" indent="0" algn="just">
              <a:lnSpc>
                <a:spcPct val="150000"/>
              </a:lnSpc>
              <a:buNone/>
            </a:pPr>
            <a:endParaRPr lang="en-IN" b="1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BD260A3-568D-4149-9E99-C197F0A9E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ISE, SDM Institute of Technology, Ujire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F08F8E-E960-4DA3-999B-CDA2661A7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577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F843AED-C7B8-419D-A745-BE0AEE0A0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ISE, SDM Institute of Technology, Ujire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003951-B0C4-4680-8F31-70951E410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D1EFCA-CFCE-4BE0-B6FB-83F273C47264}"/>
              </a:ext>
            </a:extLst>
          </p:cNvPr>
          <p:cNvSpPr txBox="1"/>
          <p:nvPr/>
        </p:nvSpPr>
        <p:spPr>
          <a:xfrm>
            <a:off x="588537" y="1338910"/>
            <a:ext cx="11014926" cy="3442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/>
              <a:t>   </a:t>
            </a:r>
            <a:r>
              <a:rPr lang="en-US" sz="2400" dirty="0"/>
              <a:t>Poor accessibility, especially for disabled or remote voters, creates inequality in       participation. Digital divides and interface complexity further sections of the population.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   System resilience is vital to withstand cyberattacks, outages, or manipulations. A    fragile system can be easily disrupted, compromising the entire election process.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26059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D117B9-4FAE-45DF-A5E8-F1F1865A5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System Requirements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5D6382-2654-424F-A034-DCFD6B458E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67743" y="1690688"/>
            <a:ext cx="5181600" cy="435133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531813" indent="-43973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b="1" dirty="0"/>
              <a:t>Software Requirements:</a:t>
            </a:r>
          </a:p>
          <a:p>
            <a:pPr>
              <a:lnSpc>
                <a:spcPct val="160000"/>
              </a:lnSpc>
            </a:pPr>
            <a:r>
              <a:rPr lang="en-US" dirty="0"/>
              <a:t>   Operating System </a:t>
            </a:r>
            <a:r>
              <a:rPr lang="en-IN" dirty="0"/>
              <a:t> </a:t>
            </a:r>
          </a:p>
          <a:p>
            <a:pPr>
              <a:lnSpc>
                <a:spcPct val="160000"/>
              </a:lnSpc>
            </a:pPr>
            <a:r>
              <a:rPr lang="en-US" dirty="0"/>
              <a:t>   Web Server </a:t>
            </a:r>
            <a:r>
              <a:rPr lang="en-IN" dirty="0"/>
              <a:t>  </a:t>
            </a:r>
          </a:p>
          <a:p>
            <a:pPr>
              <a:lnSpc>
                <a:spcPct val="160000"/>
              </a:lnSpc>
            </a:pPr>
            <a:r>
              <a:rPr lang="en-US" dirty="0"/>
              <a:t>   Frontend &amp; Backend Tech.</a:t>
            </a:r>
            <a:endParaRPr lang="en-IN" dirty="0"/>
          </a:p>
          <a:p>
            <a:pPr>
              <a:lnSpc>
                <a:spcPct val="160000"/>
              </a:lnSpc>
            </a:pPr>
            <a:r>
              <a:rPr lang="en-US" dirty="0"/>
              <a:t>   Database</a:t>
            </a:r>
            <a:endParaRPr lang="en-IN" dirty="0"/>
          </a:p>
          <a:p>
            <a:endParaRPr lang="en-IN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C8A5C56-D3DB-4F92-8B73-D8BDEBA24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ISE, SDM Institute of Technology, Ujire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86FB7F-8F83-418F-A29B-A9E1915C3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010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D117B9-4FAE-45DF-A5E8-F1F1865A5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Objectives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34ED2F-AC4C-4255-A9C2-A8A1F7A0A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95956" cy="4351338"/>
          </a:xfrm>
        </p:spPr>
        <p:txBody>
          <a:bodyPr>
            <a:normAutofit/>
          </a:bodyPr>
          <a:lstStyle/>
          <a:p>
            <a:pPr marL="358775" indent="0">
              <a:lnSpc>
                <a:spcPct val="100000"/>
              </a:lnSpc>
              <a:buNone/>
            </a:pPr>
            <a:r>
              <a:rPr lang="en-IN" sz="2700" dirty="0"/>
              <a:t>The objectives of the proposed work are </a:t>
            </a:r>
          </a:p>
          <a:p>
            <a:pPr marL="890588" indent="-531813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500" dirty="0"/>
          </a:p>
          <a:p>
            <a:pPr marL="1158875" indent="-800100" defTabSz="1519238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500" dirty="0"/>
              <a:t>Protect voter anonymity while ensuring only eligible voters participate and Remove reliance on centralized authorities.</a:t>
            </a:r>
          </a:p>
          <a:p>
            <a:pPr marL="1158875" indent="-800100" defTabSz="1519238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100" dirty="0"/>
          </a:p>
          <a:p>
            <a:pPr marL="1158875" indent="-800100" defTabSz="1519238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500" dirty="0"/>
              <a:t>Enhance transparency and minimize fraud and errors. Provide a   scalable platform trusted by diverse communities.</a:t>
            </a:r>
          </a:p>
          <a:p>
            <a:pPr marL="358775" indent="0">
              <a:lnSpc>
                <a:spcPct val="160000"/>
              </a:lnSpc>
              <a:buNone/>
            </a:pPr>
            <a:endParaRPr lang="en-US" sz="2400" dirty="0">
              <a:solidFill>
                <a:srgbClr val="272525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A13AE7E-FA3D-49ED-AABE-468F91F6B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ISE, SDM Institute of Technology, Ujire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5293BD-B7A6-4092-B9BA-060AA637F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629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D117B9-4FAE-45DF-A5E8-F1F1865A5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8113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Methodology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A98666C-A46A-4D46-BA18-E5831805A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ISE, SDM Institute of Technology, Ujire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0862B9-49EB-4B66-AA99-ABB3C479E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0F7A27-2D7B-7A6F-94B9-3EF22562C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508" y="1463676"/>
            <a:ext cx="6697010" cy="4329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8191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login screen&#10;&#10;AI-generated content may be incorrect.">
            <a:extLst>
              <a:ext uri="{FF2B5EF4-FFF2-40B4-BE49-F238E27FC236}">
                <a16:creationId xmlns:a16="http://schemas.microsoft.com/office/drawing/2014/main" id="{4A5D008C-932D-5EC5-CB44-E8D420BFF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523" y="333532"/>
            <a:ext cx="3532122" cy="290517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4342152-8CF0-8977-07B4-E1BE5B486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1" y="6356350"/>
            <a:ext cx="5426764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IN"/>
              <a:t>Dept. of ISE, SDM Institute of Technology, Ujire</a:t>
            </a:r>
            <a:endParaRPr lang="en-US"/>
          </a:p>
        </p:txBody>
      </p:sp>
      <p:pic>
        <p:nvPicPr>
          <p:cNvPr id="10" name="Picture 9" descr="A screen shot of a black box with green text&#10;&#10;AI-generated content may be incorrect.">
            <a:extLst>
              <a:ext uri="{FF2B5EF4-FFF2-40B4-BE49-F238E27FC236}">
                <a16:creationId xmlns:a16="http://schemas.microsoft.com/office/drawing/2014/main" id="{FED72648-2797-58ED-4817-C099EDC7E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4163444"/>
            <a:ext cx="5426764" cy="169586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99448F2-0E5B-42DA-B2D1-11A14E94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8A7552-20E1-4F34-ADAB-C1DB6634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82ECDC-0F45-BDE7-AD4E-9B30F0F3E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pic>
        <p:nvPicPr>
          <p:cNvPr id="9" name="Picture 8" descr="A screenshot of a phone&#10;&#10;AI-generated content may be incorrect.">
            <a:extLst>
              <a:ext uri="{FF2B5EF4-FFF2-40B4-BE49-F238E27FC236}">
                <a16:creationId xmlns:a16="http://schemas.microsoft.com/office/drawing/2014/main" id="{B54D869E-15B6-671F-665C-7F5A4D862E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4259" y="321734"/>
            <a:ext cx="4434313" cy="6069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426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8F37C1-4B95-A567-2E67-DB5317663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8DC6FCD-811B-436E-9FEE-FC957486C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0DE9DBB-9DDB-BE3E-3E99-C471AECBE7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622" r="583" b="-1"/>
          <a:stretch>
            <a:fillRect/>
          </a:stretch>
        </p:blipFill>
        <p:spPr>
          <a:xfrm>
            <a:off x="198739" y="171717"/>
            <a:ext cx="5804105" cy="3167426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A8D8721-CCAA-A77D-48FE-87D5AF2F50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418" r="2" b="2"/>
          <a:stretch>
            <a:fillRect/>
          </a:stretch>
        </p:blipFill>
        <p:spPr>
          <a:xfrm>
            <a:off x="201849" y="3394687"/>
            <a:ext cx="5797883" cy="2789948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B25A8B5-1E50-11D5-9ED2-7AED8923848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11" r="2173" b="1"/>
          <a:stretch>
            <a:fillRect/>
          </a:stretch>
        </p:blipFill>
        <p:spPr>
          <a:xfrm>
            <a:off x="6189150" y="171717"/>
            <a:ext cx="5804105" cy="3130151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B290B32-45C0-D51A-01D6-DE0B44756C0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4537" b="-2"/>
          <a:stretch>
            <a:fillRect/>
          </a:stretch>
        </p:blipFill>
        <p:spPr>
          <a:xfrm>
            <a:off x="6186038" y="3394687"/>
            <a:ext cx="5797883" cy="2789948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F5EB9CC-3118-84A9-0D47-94CA312B9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IN"/>
              <a:t>Dept. of ISE, SDM Institute of Technology, Ujire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335F97-7E89-B75B-14DE-888D31C41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570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EF39AE-D04E-A037-EE39-E7C916694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7815DE4E-48DD-2A40-B09A-BB18FDD71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007226"/>
            <a:ext cx="4169663" cy="4843549"/>
          </a:xfrm>
          <a:prstGeom prst="rect">
            <a:avLst/>
          </a:prstGeom>
        </p:spPr>
      </p:pic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3839952B-F5F4-5D55-63C1-C5388D323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6029" y="1350700"/>
            <a:ext cx="6731338" cy="415660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BB01D19-A82F-F015-978A-CC95BBD7E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1732" y="6500896"/>
            <a:ext cx="4114800" cy="274320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IN"/>
              <a:t>Dept. of ISE, SDM Institute of Technology, Ujire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4664D8-47D7-CD5B-60E5-D53C441BA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7767" y="6500896"/>
            <a:ext cx="952499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8139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D117B9-4FAE-45DF-A5E8-F1F1865A5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Outcomes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34ED2F-AC4C-4255-A9C2-A8A1F7A0A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58775" indent="0" algn="just">
              <a:lnSpc>
                <a:spcPct val="150000"/>
              </a:lnSpc>
              <a:buNone/>
            </a:pPr>
            <a:r>
              <a:rPr lang="en-IN" sz="2400" dirty="0"/>
              <a:t>The outcomes of the proposed work are </a:t>
            </a:r>
          </a:p>
          <a:p>
            <a:pPr marL="890588" indent="-531813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Security &amp; Authentication – Strengthened voter identity verification ensures secure and tamper-proof elections.</a:t>
            </a:r>
          </a:p>
          <a:p>
            <a:pPr marL="890588" indent="-531813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Real-time tracking boosts transparency and speeds up result processing.</a:t>
            </a:r>
          </a:p>
          <a:p>
            <a:pPr marL="890588" indent="-531813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Accessibility &amp; Inclusion – Simplified interfaces allow broader voter participation, increasing turnout.</a:t>
            </a:r>
            <a:endParaRPr lang="en-IN" sz="24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BC704F0-CF39-4526-9224-FEE4B6A3E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ISE, SDM Institute of Technology, Ujire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B0A2F2-76A2-436E-9C05-F8831A2C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58692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DC400-B8C8-711C-3C73-2949FF1A7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225BF6-D1D0-33D7-787B-24BB06431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Conclusion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7DCE08C-A156-ED73-4057-81876B84B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58775" indent="0" algn="just">
              <a:lnSpc>
                <a:spcPct val="150000"/>
              </a:lnSpc>
              <a:buNone/>
            </a:pPr>
            <a:r>
              <a:rPr lang="en-US" sz="2400" dirty="0"/>
              <a:t>The Secure Full Stack Voting System successfully demonstrates how modern technology can transform traditional elections into a </a:t>
            </a:r>
            <a:r>
              <a:rPr lang="en-US" sz="2400" b="1" dirty="0"/>
              <a:t>transparent, reliable, and scalable digital process</a:t>
            </a:r>
            <a:r>
              <a:rPr lang="en-US" sz="2400" dirty="0"/>
              <a:t>. By integrating secure authentication, encrypted vote storage, real-time counting, and audit mechanisms, the system ensures high levels of </a:t>
            </a:r>
            <a:r>
              <a:rPr lang="en-US" sz="2400" b="1" dirty="0"/>
              <a:t>security, accuracy, and trust</a:t>
            </a:r>
            <a:r>
              <a:rPr lang="en-US" sz="2400" dirty="0"/>
              <a:t>.</a:t>
            </a:r>
            <a:endParaRPr lang="en-IN" sz="24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39FF7C-1B52-5FE9-A6B8-44D5CF56C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ISE, SDM Institute of Technology, Ujire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02A29D-A563-F6F8-CA68-21E6E2464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3700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D117B9-4FAE-45DF-A5E8-F1F1865A5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References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34ED2F-AC4C-4255-A9C2-A8A1F7A0A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90588" indent="-531813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References of conference/journal paper or books or website in the specified below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	[1]   Adida, B. (2008). "Helios: Web-Based Open-Audit Voting." Proceedings of the 		        17th USENIX Security Symposium, 335-348.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	[2]   Rivest, R. L., Smith, W. D. (2007). "Three Voting Protocols: </a:t>
            </a:r>
            <a:r>
              <a:rPr lang="en-US" sz="2000" dirty="0" err="1"/>
              <a:t>ThreeBallot</a:t>
            </a:r>
            <a:r>
              <a:rPr lang="en-US" sz="2000" dirty="0"/>
              <a:t>, VAV, and     	       Twin." Proceedings of the 2007 Electronic Voting Technology Workshop.</a:t>
            </a:r>
            <a:endParaRPr lang="en-IN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	[3]   Bonneau, J., Herley, C., Van Oorschot, P. C., </a:t>
            </a:r>
            <a:r>
              <a:rPr lang="en-US" sz="2000" dirty="0" err="1"/>
              <a:t>Stajano</a:t>
            </a:r>
            <a:r>
              <a:rPr lang="en-US" sz="2000" dirty="0"/>
              <a:t>, F. (2012). "The Quest to Replace  	        Passwords: A Framework for Comparative Evaluation of Web Authentication 	    	        Schemes." IEEE Symposium on Security and Privacy, 553-567.</a:t>
            </a:r>
            <a:endParaRPr lang="en-IN" sz="2000" dirty="0"/>
          </a:p>
          <a:p>
            <a:pPr marL="701675" indent="-342900" algn="just">
              <a:lnSpc>
                <a:spcPct val="150000"/>
              </a:lnSpc>
            </a:pPr>
            <a:endParaRPr lang="en-US" sz="2000" dirty="0"/>
          </a:p>
          <a:p>
            <a:pPr marL="701675" indent="-342900" algn="just">
              <a:lnSpc>
                <a:spcPct val="150000"/>
              </a:lnSpc>
            </a:pPr>
            <a:endParaRPr lang="en-IN" sz="2400" dirty="0"/>
          </a:p>
          <a:p>
            <a:pPr marL="890588" indent="-531813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IN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E077240-B1DA-4D5D-9C59-89FEE3C8D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ISE, SDM Institute of Technology, Ujire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6BEDA9-855A-41BE-80C0-327BDB410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09289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99CC9-48CE-AB08-7745-DF7F0C542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561C6B-AFE5-F965-35FB-D293F47F7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129" y="498848"/>
            <a:ext cx="10564907" cy="551646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	[1]   Adida, B. (2008). "Helios: Web-Based Open-Audit Voting." Proceedings of the 		        17th USENIX Security Symposium, 335-348.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	[2]   Rivest, R. L., Smith, W. D. (2007). "Three Voting Protocols: </a:t>
            </a:r>
            <a:r>
              <a:rPr lang="en-US" sz="2000" dirty="0" err="1"/>
              <a:t>ThreeBallot</a:t>
            </a:r>
            <a:r>
              <a:rPr lang="en-US" sz="2000" dirty="0"/>
              <a:t>, VAV, and     	       Twin." Proceedings of the 2007 Electronic Voting Technology Workshop.</a:t>
            </a:r>
            <a:endParaRPr lang="en-IN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	[3]   Bonneau, J., Herley, C., Van Oorschot, P. C., </a:t>
            </a:r>
            <a:r>
              <a:rPr lang="en-US" sz="2000" dirty="0" err="1"/>
              <a:t>Stajano</a:t>
            </a:r>
            <a:r>
              <a:rPr lang="en-US" sz="2000" dirty="0"/>
              <a:t>, F. (2012). "The Quest to Replace  	        Passwords: A Framework for Comparative Evaluation of Web Authentication 	    	        Schemes." IEEE Symposium on Security and Privacy, 553-567.</a:t>
            </a:r>
            <a:endParaRPr lang="en-IN" sz="2000" dirty="0"/>
          </a:p>
          <a:p>
            <a:pPr marL="701675" indent="-342900" algn="just">
              <a:lnSpc>
                <a:spcPct val="150000"/>
              </a:lnSpc>
            </a:pPr>
            <a:r>
              <a:rPr lang="en-US" sz="2000" dirty="0"/>
              <a:t>	[3]   Bonneau, J., Herley, C., Van Oorschot, P. C., </a:t>
            </a:r>
            <a:r>
              <a:rPr lang="en-US" sz="2000" dirty="0" err="1"/>
              <a:t>Stajano</a:t>
            </a:r>
            <a:r>
              <a:rPr lang="en-US" sz="2000" dirty="0"/>
              <a:t>, F. (2012). "The Quest to Replace  	        Passwords: A Framework for Comparative Evaluation of Web Authentication 	    	        Schemes." IEEE Symposium on Security and Privacy, 553-567.</a:t>
            </a:r>
            <a:endParaRPr lang="en-IN" sz="2000" dirty="0"/>
          </a:p>
          <a:p>
            <a:pPr marL="701675" indent="-342900" algn="just">
              <a:lnSpc>
                <a:spcPct val="150000"/>
              </a:lnSpc>
            </a:pPr>
            <a:endParaRPr lang="en-US" sz="2000" dirty="0"/>
          </a:p>
          <a:p>
            <a:pPr marL="701675" indent="-342900" algn="just">
              <a:lnSpc>
                <a:spcPct val="150000"/>
              </a:lnSpc>
            </a:pPr>
            <a:endParaRPr lang="en-IN" sz="2400" dirty="0"/>
          </a:p>
          <a:p>
            <a:pPr marL="890588" indent="-531813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IN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8C32EB1-4262-8FB4-543E-46E98BC18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ISE, SDM Institute of Technology, Ujire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66470D-0103-F203-0AA3-DADE12C86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6420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3"/>
          <p:cNvSpPr txBox="1"/>
          <p:nvPr/>
        </p:nvSpPr>
        <p:spPr>
          <a:xfrm>
            <a:off x="1524000" y="533401"/>
            <a:ext cx="9144000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/>
            <a:r>
              <a:rPr sz="4000" b="1" u="sng" dirty="0">
                <a:solidFill>
                  <a:schemeClr val="bg1"/>
                </a:solidFill>
                <a:latin typeface="Palatino Linotype" panose="02040502050505030304" pitchFamily="18" charset="0"/>
              </a:rPr>
              <a:t>14.  ‘Thank You’ Slide (1 slide)</a:t>
            </a:r>
          </a:p>
        </p:txBody>
      </p:sp>
      <p:sp>
        <p:nvSpPr>
          <p:cNvPr id="16387" name="Text Box 4"/>
          <p:cNvSpPr txBox="1"/>
          <p:nvPr/>
        </p:nvSpPr>
        <p:spPr>
          <a:xfrm>
            <a:off x="1752600" y="1524001"/>
            <a:ext cx="8686800" cy="83099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buClr>
                <a:srgbClr val="5FD1FF"/>
              </a:buClr>
              <a:buFont typeface="Wingdings" panose="05000000000000000000" pitchFamily="2" charset="2"/>
              <a:buNone/>
            </a:pPr>
            <a:r>
              <a:rPr sz="2400" dirty="0">
                <a:solidFill>
                  <a:schemeClr val="bg1"/>
                </a:solidFill>
                <a:latin typeface="Palatino Linotype" panose="02040502050505030304" pitchFamily="18" charset="0"/>
              </a:rPr>
              <a:t>Just mention ‘THANK YOU’ on this slide.</a:t>
            </a:r>
          </a:p>
          <a:p>
            <a:pPr algn="ctr">
              <a:buClr>
                <a:srgbClr val="5FD1FF"/>
              </a:buClr>
              <a:buFont typeface="Wingdings" panose="05000000000000000000" pitchFamily="2" charset="2"/>
              <a:buNone/>
            </a:pPr>
            <a:r>
              <a:rPr sz="2400" dirty="0">
                <a:solidFill>
                  <a:schemeClr val="bg1"/>
                </a:solidFill>
                <a:latin typeface="Palatino Linotype" panose="02040502050505030304" pitchFamily="18" charset="0"/>
              </a:rPr>
              <a:t>Include ‘QUESTIONS?’ If you want.</a:t>
            </a:r>
          </a:p>
        </p:txBody>
      </p:sp>
      <p:sp>
        <p:nvSpPr>
          <p:cNvPr id="16388" name="Text Box 5"/>
          <p:cNvSpPr txBox="1"/>
          <p:nvPr/>
        </p:nvSpPr>
        <p:spPr>
          <a:xfrm>
            <a:off x="1524000" y="2697164"/>
            <a:ext cx="9144000" cy="11890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sz="7200" b="1" u="sng" dirty="0">
                <a:solidFill>
                  <a:schemeClr val="accent1">
                    <a:lumMod val="50000"/>
                  </a:schemeClr>
                </a:solidFill>
                <a:latin typeface="Palatino Linotype" panose="02040502050505030304" pitchFamily="18" charset="0"/>
              </a:rPr>
              <a:t>THANK YOU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ECC8D69-1B12-4A48-A056-8B34CE2D1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ISE, SDM Institute of Technology, Ujire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9C959E-1394-4C9D-BA6E-1A56969E5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33808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 New Roma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1127</TotalTime>
  <Words>1494</Words>
  <Application>Microsoft Office PowerPoint</Application>
  <PresentationFormat>Widescreen</PresentationFormat>
  <Paragraphs>178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Montserrat</vt:lpstr>
      <vt:lpstr>Palatino Linotype</vt:lpstr>
      <vt:lpstr>Times New Roman</vt:lpstr>
      <vt:lpstr>Wingdings</vt:lpstr>
      <vt:lpstr>Office Theme</vt:lpstr>
      <vt:lpstr>A Secure Full Stack Voting System for Transparent, Reliable, and Scalable Digital Elections.</vt:lpstr>
      <vt:lpstr>Agenda</vt:lpstr>
      <vt:lpstr>Abstract</vt:lpstr>
      <vt:lpstr>Introduction</vt:lpstr>
      <vt:lpstr>                     Literature Survey </vt:lpstr>
      <vt:lpstr>                     Literature Survey </vt:lpstr>
      <vt:lpstr>                     Literature Survey </vt:lpstr>
      <vt:lpstr>Problem Statement</vt:lpstr>
      <vt:lpstr>PowerPoint Presentation</vt:lpstr>
      <vt:lpstr>System Requirements</vt:lpstr>
      <vt:lpstr>Objectives</vt:lpstr>
      <vt:lpstr>Methodology</vt:lpstr>
      <vt:lpstr>PowerPoint Presentation</vt:lpstr>
      <vt:lpstr>PowerPoint Presentation</vt:lpstr>
      <vt:lpstr>PowerPoint Presentation</vt:lpstr>
      <vt:lpstr>Outcomes</vt:lpstr>
      <vt:lpstr>Conclusion</vt:lpstr>
      <vt:lpstr>References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suhas g k</dc:creator>
  <cp:lastModifiedBy>deepak  V S</cp:lastModifiedBy>
  <cp:revision>199</cp:revision>
  <dcterms:created xsi:type="dcterms:W3CDTF">2019-05-10T05:31:51Z</dcterms:created>
  <dcterms:modified xsi:type="dcterms:W3CDTF">2025-12-04T08:46:22Z</dcterms:modified>
</cp:coreProperties>
</file>